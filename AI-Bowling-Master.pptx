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" panose="020F0502020204030204" pitchFamily="2" charset="0"/>
      <p:regular r:id="rId13"/>
    </p:embeddedFont>
    <p:embeddedFont>
      <p:font typeface="PT Serif" panose="020F0502020204030204" pitchFamily="18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96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1984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Bowling Master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44566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ボウリング場とプレイヤーのための、AIコーチ＆スコア分析アプリ</a:t>
            </a:r>
            <a:endParaRPr lang="ja-JP" sz="1450" dirty="0"/>
          </a:p>
        </p:txBody>
      </p:sp>
      <p:sp>
        <p:nvSpPr>
          <p:cNvPr id="6" name="Text 3"/>
          <p:cNvSpPr/>
          <p:nvPr/>
        </p:nvSpPr>
        <p:spPr>
          <a:xfrm>
            <a:off x="774879" y="4017367"/>
            <a:ext cx="215606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ja-JP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63576"/>
            <a:ext cx="6826972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ボウラーが直面する3つの壁</a:t>
            </a:r>
            <a:endParaRPr lang="ja-JP" sz="3900" dirty="0"/>
          </a:p>
        </p:txBody>
      </p:sp>
      <p:sp>
        <p:nvSpPr>
          <p:cNvPr id="4" name="Shape 1"/>
          <p:cNvSpPr/>
          <p:nvPr/>
        </p:nvSpPr>
        <p:spPr>
          <a:xfrm>
            <a:off x="661475" y="2367260"/>
            <a:ext cx="3053877" cy="1721445"/>
          </a:xfrm>
          <a:prstGeom prst="roundRect">
            <a:avLst>
              <a:gd name="adj" fmla="val 164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850482" y="2556272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🎳</a:t>
            </a: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弱点がわからない</a:t>
            </a:r>
            <a:endParaRPr lang="ja-JP" sz="1950" dirty="0"/>
          </a:p>
        </p:txBody>
      </p:sp>
      <p:sp>
        <p:nvSpPr>
          <p:cNvPr id="6" name="Text 3"/>
          <p:cNvSpPr/>
          <p:nvPr/>
        </p:nvSpPr>
        <p:spPr>
          <a:xfrm>
            <a:off x="850482" y="2992438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レーン・メンテナンスの影響で、自分の残ピン傾向を把握できない</a:t>
            </a:r>
            <a:endParaRPr lang="ja-JP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7260"/>
            <a:ext cx="3053976" cy="1721445"/>
          </a:xfrm>
          <a:prstGeom prst="roundRect">
            <a:avLst>
              <a:gd name="adj" fmla="val 164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4093366" y="2556272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💸</a:t>
            </a: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コーチングが高額</a:t>
            </a:r>
            <a:endParaRPr lang="ja-JP" sz="1950" dirty="0"/>
          </a:p>
        </p:txBody>
      </p:sp>
      <p:sp>
        <p:nvSpPr>
          <p:cNvPr id="9" name="Text 6"/>
          <p:cNvSpPr/>
          <p:nvPr/>
        </p:nvSpPr>
        <p:spPr>
          <a:xfrm>
            <a:off x="4093366" y="2992438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プロコーチは費用が高く、日常の改善には不向き</a:t>
            </a:r>
            <a:endParaRPr lang="ja-JP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77717"/>
            <a:ext cx="6296860" cy="1116608"/>
          </a:xfrm>
          <a:prstGeom prst="roundRect">
            <a:avLst>
              <a:gd name="adj" fmla="val 253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50482" y="4466729"/>
            <a:ext cx="2588156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📊</a:t>
            </a: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データが眠っている</a:t>
            </a:r>
            <a:endParaRPr lang="ja-JP" sz="1950" dirty="0"/>
          </a:p>
        </p:txBody>
      </p:sp>
      <p:sp>
        <p:nvSpPr>
          <p:cNvPr id="12" name="Text 9"/>
          <p:cNvSpPr/>
          <p:nvPr/>
        </p:nvSpPr>
        <p:spPr>
          <a:xfrm>
            <a:off x="850482" y="490289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ボウリング場は顧客のプレイデータを十分に活用できていない</a:t>
            </a:r>
            <a:endParaRPr lang="ja-JP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490"/>
            <a:ext cx="7305591" cy="58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Bowling Master が解決します</a:t>
            </a:r>
            <a:endParaRPr lang="ja-JP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90441"/>
            <a:ext cx="1904952" cy="190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1604863"/>
            <a:ext cx="265106" cy="2651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87069" y="1599406"/>
            <a:ext cx="294940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スコア＆投球履歴の取り込み</a:t>
            </a:r>
            <a:endParaRPr lang="ja-JP" sz="1800" dirty="0"/>
          </a:p>
        </p:txBody>
      </p:sp>
      <p:sp>
        <p:nvSpPr>
          <p:cNvPr id="6" name="Text 2"/>
          <p:cNvSpPr/>
          <p:nvPr/>
        </p:nvSpPr>
        <p:spPr>
          <a:xfrm>
            <a:off x="8587069" y="2344539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手入力・OCRで簡単記録</a:t>
            </a:r>
            <a:endParaRPr lang="ja-JP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2954238"/>
            <a:ext cx="265106" cy="2651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87069" y="2948781"/>
            <a:ext cx="231997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レーン別ヒートマップ</a:t>
            </a:r>
            <a:endParaRPr lang="ja-JP" sz="1800" dirty="0"/>
          </a:p>
        </p:txBody>
      </p:sp>
      <p:sp>
        <p:nvSpPr>
          <p:cNvPr id="9" name="Text 4"/>
          <p:cNvSpPr/>
          <p:nvPr/>
        </p:nvSpPr>
        <p:spPr>
          <a:xfrm>
            <a:off x="8587069" y="3403997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残ピン分布を視覚化</a:t>
            </a:r>
            <a:endParaRPr lang="ja-JP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4013696"/>
            <a:ext cx="265106" cy="2651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87069" y="4008239"/>
            <a:ext cx="278361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AIコーチが即時アドバイス</a:t>
            </a:r>
            <a:endParaRPr lang="ja-JP" sz="1800" dirty="0"/>
          </a:p>
        </p:txBody>
      </p:sp>
      <p:sp>
        <p:nvSpPr>
          <p:cNvPr id="12" name="Text 6"/>
          <p:cNvSpPr/>
          <p:nvPr/>
        </p:nvSpPr>
        <p:spPr>
          <a:xfrm>
            <a:off x="8587069" y="4463455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ショートテキスト・音声で改善提案</a:t>
            </a:r>
            <a:endParaRPr lang="ja-JP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5073154"/>
            <a:ext cx="265106" cy="2651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87069" y="5067697"/>
            <a:ext cx="294940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ローカル保存＋クラウド同期</a:t>
            </a:r>
            <a:endParaRPr lang="ja-JP" sz="1800" dirty="0"/>
          </a:p>
        </p:txBody>
      </p:sp>
      <p:sp>
        <p:nvSpPr>
          <p:cNvPr id="15" name="Text 8"/>
          <p:cNvSpPr/>
          <p:nvPr/>
        </p:nvSpPr>
        <p:spPr>
          <a:xfrm>
            <a:off x="8587069" y="5812830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現場導入もスムーズ</a:t>
            </a:r>
            <a:endParaRPr lang="ja-JP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1710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レーン別 残ピンヒートマップ</a:t>
            </a:r>
            <a:endParaRPr lang="ja-JP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66561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どのピンが・どのレーンで・どれだけ残っているかを一目で把握。自分の「弱点レーン」が可視化されます。</a:t>
            </a:r>
            <a:endParaRPr lang="ja-JP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483074"/>
            <a:ext cx="6296860" cy="2233216"/>
          </a:xfrm>
          <a:prstGeom prst="roundRect">
            <a:avLst>
              <a:gd name="adj" fmla="val 127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661475" y="3483074"/>
            <a:ext cx="3148430" cy="111660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850482" y="3672086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📍</a:t>
            </a: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レーン分析</a:t>
            </a:r>
            <a:endParaRPr lang="ja-JP" sz="1950" dirty="0"/>
          </a:p>
        </p:txBody>
      </p:sp>
      <p:sp>
        <p:nvSpPr>
          <p:cNvPr id="8" name="Text 5"/>
          <p:cNvSpPr/>
          <p:nvPr/>
        </p:nvSpPr>
        <p:spPr>
          <a:xfrm>
            <a:off x="850482" y="4108252"/>
            <a:ext cx="27704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レーンごとの傾向を比較</a:t>
            </a:r>
            <a:endParaRPr lang="ja-JP" sz="1450" dirty="0"/>
          </a:p>
        </p:txBody>
      </p:sp>
      <p:sp>
        <p:nvSpPr>
          <p:cNvPr id="9" name="Shape 6"/>
          <p:cNvSpPr/>
          <p:nvPr/>
        </p:nvSpPr>
        <p:spPr>
          <a:xfrm>
            <a:off x="3809905" y="3483074"/>
            <a:ext cx="3148430" cy="111660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3809905" y="3483074"/>
            <a:ext cx="25399" cy="1116608"/>
          </a:xfrm>
          <a:prstGeom prst="roundRect">
            <a:avLst>
              <a:gd name="adj" fmla="val 11163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3998912" y="3672086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🔥</a:t>
            </a: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分布の可視化</a:t>
            </a:r>
            <a:endParaRPr lang="ja-JP" sz="1950" dirty="0"/>
          </a:p>
        </p:txBody>
      </p:sp>
      <p:sp>
        <p:nvSpPr>
          <p:cNvPr id="12" name="Text 9"/>
          <p:cNvSpPr/>
          <p:nvPr/>
        </p:nvSpPr>
        <p:spPr>
          <a:xfrm>
            <a:off x="3998912" y="4108252"/>
            <a:ext cx="27704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残ピンをヒートマップで表示</a:t>
            </a:r>
            <a:endParaRPr lang="ja-JP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4599682"/>
            <a:ext cx="6296860" cy="111660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661475" y="4599682"/>
            <a:ext cx="6296860" cy="25400"/>
          </a:xfrm>
          <a:prstGeom prst="roundRect">
            <a:avLst>
              <a:gd name="adj" fmla="val 11162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850482" y="4788694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📈</a:t>
            </a: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改善の軌跡</a:t>
            </a:r>
            <a:endParaRPr lang="ja-JP" sz="1950" dirty="0"/>
          </a:p>
        </p:txBody>
      </p:sp>
      <p:sp>
        <p:nvSpPr>
          <p:cNvPr id="16" name="Text 13"/>
          <p:cNvSpPr/>
          <p:nvPr/>
        </p:nvSpPr>
        <p:spPr>
          <a:xfrm>
            <a:off x="850482" y="522485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履歴から成長を確認</a:t>
            </a:r>
            <a:endParaRPr lang="ja-JP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841"/>
            <a:ext cx="4826971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AIコーチ機能</a:t>
            </a:r>
            <a:endParaRPr lang="ja-JP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98302"/>
            <a:ext cx="3549264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投球データから、</a:t>
            </a:r>
            <a:r>
              <a:rPr lang="ja-JP" altLang="en-US" sz="16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即時に改善アドバイス</a:t>
            </a:r>
            <a:endParaRPr lang="ja-JP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161877"/>
            <a:ext cx="35492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AIがあなたの投球パターンを分析し、具体的で実行しやすいアクションを提案します。</a:t>
            </a:r>
            <a:endParaRPr lang="ja-JP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90924"/>
            <a:ext cx="3549264" cy="1003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354" y="2970609"/>
            <a:ext cx="220399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🎤</a:t>
            </a:r>
            <a:r>
              <a:rPr lang="ja-JP" alt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音声・テキスト対応</a:t>
            </a:r>
            <a:endParaRPr lang="ja-JP" sz="1650" dirty="0"/>
          </a:p>
        </p:txBody>
      </p:sp>
      <p:sp>
        <p:nvSpPr>
          <p:cNvPr id="7" name="Text 4"/>
          <p:cNvSpPr/>
          <p:nvPr/>
        </p:nvSpPr>
        <p:spPr>
          <a:xfrm>
            <a:off x="917354" y="3377009"/>
            <a:ext cx="31137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プレイ中もすぐ確認できる形式</a:t>
            </a:r>
            <a:endParaRPr lang="ja-JP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0948"/>
            <a:ext cx="3549264" cy="10034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7354" y="4110633"/>
            <a:ext cx="2108643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🎯</a:t>
            </a:r>
            <a:r>
              <a:rPr lang="zh-CN" alt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個別最適化</a:t>
            </a:r>
            <a:endParaRPr lang="zh-CN" sz="1650" dirty="0"/>
          </a:p>
        </p:txBody>
      </p:sp>
      <p:sp>
        <p:nvSpPr>
          <p:cNvPr id="10" name="Text 6"/>
          <p:cNvSpPr/>
          <p:nvPr/>
        </p:nvSpPr>
        <p:spPr>
          <a:xfrm>
            <a:off x="917354" y="4517033"/>
            <a:ext cx="31137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あなたの履歴に基づいた提案</a:t>
            </a:r>
            <a:endParaRPr lang="ja-JP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70971"/>
            <a:ext cx="3549264" cy="10034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7354" y="5250656"/>
            <a:ext cx="2108643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📋</a:t>
            </a:r>
            <a:r>
              <a:rPr lang="ja-JP" alt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改善トラック</a:t>
            </a:r>
            <a:endParaRPr lang="ja-JP" sz="1650" dirty="0"/>
          </a:p>
        </p:txBody>
      </p:sp>
      <p:sp>
        <p:nvSpPr>
          <p:cNvPr id="13" name="Text 8"/>
          <p:cNvSpPr/>
          <p:nvPr/>
        </p:nvSpPr>
        <p:spPr>
          <a:xfrm>
            <a:off x="917354" y="5657056"/>
            <a:ext cx="31137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継続的な成長をサポート</a:t>
            </a:r>
            <a:endParaRPr lang="ja-JP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993" y="2842419"/>
            <a:ext cx="1904952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930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主要機能ラインナップ</a:t>
            </a:r>
            <a:endParaRPr lang="ja-JP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4170"/>
            <a:ext cx="1473163" cy="147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1360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スコア入力</a:t>
            </a:r>
            <a:endParaRPr lang="ja-JP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4537075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ボタン・キーボード対応、Enterで即時保存</a:t>
            </a:r>
            <a:endParaRPr lang="ja-JP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404170"/>
            <a:ext cx="1473163" cy="147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113609"/>
            <a:ext cx="254003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LaneHeatmap ウィジェット</a:t>
            </a:r>
            <a:endParaRPr lang="ja-JP" sz="1950" dirty="0"/>
          </a:p>
        </p:txBody>
      </p:sp>
      <p:sp>
        <p:nvSpPr>
          <p:cNvPr id="8" name="Text 4"/>
          <p:cNvSpPr/>
          <p:nvPr/>
        </p:nvSpPr>
        <p:spPr>
          <a:xfrm>
            <a:off x="3437645" y="4847134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レーン別・残ピン分布をグラフィカルに表示</a:t>
            </a:r>
            <a:endParaRPr lang="ja-JP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404170"/>
            <a:ext cx="1473163" cy="147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11360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AIコーチ</a:t>
            </a:r>
            <a:endParaRPr lang="ja-JP" sz="1950" dirty="0"/>
          </a:p>
        </p:txBody>
      </p:sp>
      <p:sp>
        <p:nvSpPr>
          <p:cNvPr id="11" name="Text 6"/>
          <p:cNvSpPr/>
          <p:nvPr/>
        </p:nvSpPr>
        <p:spPr>
          <a:xfrm>
            <a:off x="6213915" y="453707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短いアクション提案と改善トラックを提供</a:t>
            </a:r>
            <a:endParaRPr lang="ja-JP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404170"/>
            <a:ext cx="1473163" cy="1473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411360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CloudSyncService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990184" y="453707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Firestoreへの同期オプションで複数端末対応</a:t>
            </a:r>
            <a:endParaRPr lang="ja-JP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07877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ボウリング場への価値</a:t>
            </a:r>
            <a:endParaRPr lang="ja-JP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2106017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↑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5508090" y="2965946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来店者満足度</a:t>
            </a:r>
            <a:endParaRPr lang="zh-CN" sz="1950" dirty="0"/>
          </a:p>
        </p:txBody>
      </p:sp>
      <p:sp>
        <p:nvSpPr>
          <p:cNvPr id="6" name="Text 3"/>
          <p:cNvSpPr/>
          <p:nvPr/>
        </p:nvSpPr>
        <p:spPr>
          <a:xfrm>
            <a:off x="5233360" y="3389412"/>
            <a:ext cx="30302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データ活用による体験向上</a:t>
            </a:r>
            <a:endParaRPr lang="ja-JP" sz="1450" dirty="0"/>
          </a:p>
        </p:txBody>
      </p:sp>
      <p:sp>
        <p:nvSpPr>
          <p:cNvPr id="7" name="Text 4"/>
          <p:cNvSpPr/>
          <p:nvPr/>
        </p:nvSpPr>
        <p:spPr>
          <a:xfrm>
            <a:off x="8499858" y="2106017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↑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8774588" y="2965946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リピート率</a:t>
            </a:r>
            <a:endParaRPr lang="ja-JP" sz="1950" dirty="0"/>
          </a:p>
        </p:txBody>
      </p:sp>
      <p:sp>
        <p:nvSpPr>
          <p:cNvPr id="9" name="Text 6"/>
          <p:cNvSpPr/>
          <p:nvPr/>
        </p:nvSpPr>
        <p:spPr>
          <a:xfrm>
            <a:off x="8499858" y="3389412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継続的な改善体験で再来を促進</a:t>
            </a:r>
            <a:endParaRPr lang="ja-JP" sz="1450" dirty="0"/>
          </a:p>
        </p:txBody>
      </p:sp>
      <p:sp>
        <p:nvSpPr>
          <p:cNvPr id="10" name="Text 7"/>
          <p:cNvSpPr/>
          <p:nvPr/>
        </p:nvSpPr>
        <p:spPr>
          <a:xfrm>
            <a:off x="6866559" y="4164310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7141289" y="502423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追加コスト</a:t>
            </a:r>
            <a:endParaRPr lang="ja-JP" sz="1950" dirty="0"/>
          </a:p>
        </p:txBody>
      </p:sp>
      <p:sp>
        <p:nvSpPr>
          <p:cNvPr id="12" name="Text 9"/>
          <p:cNvSpPr/>
          <p:nvPr/>
        </p:nvSpPr>
        <p:spPr>
          <a:xfrm>
            <a:off x="6866559" y="5447705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既存のスコア運用をデジタル化</a:t>
            </a:r>
            <a:endParaRPr lang="ja-JP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5005361" cy="549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プレイヤーへの価値</a:t>
            </a:r>
            <a:endParaRPr lang="ja-JP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1393"/>
            <a:ext cx="4707018" cy="4707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6484" y="2830314"/>
            <a:ext cx="455878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「なんとなく」から</a:t>
            </a:r>
            <a:r>
              <a:rPr lang="ja-JP" altLang="en-US" sz="1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「データで上達」</a:t>
            </a:r>
            <a:r>
              <a:rPr lang="ja-JP" alt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へ</a:t>
            </a:r>
            <a:endParaRPr lang="ja-JP" sz="1700" dirty="0"/>
          </a:p>
        </p:txBody>
      </p:sp>
      <p:sp>
        <p:nvSpPr>
          <p:cNvPr id="5" name="Text 2"/>
          <p:cNvSpPr/>
          <p:nvPr/>
        </p:nvSpPr>
        <p:spPr>
          <a:xfrm>
            <a:off x="6306484" y="3253284"/>
            <a:ext cx="5230086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ja-JP" alt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感覚頼みの練習から脱却。自分の投球データを可視化し、AIが次の一手を提案します。</a:t>
            </a:r>
            <a:endParaRPr lang="ja-JP" sz="1300" dirty="0"/>
          </a:p>
        </p:txBody>
      </p:sp>
      <p:sp>
        <p:nvSpPr>
          <p:cNvPr id="6" name="Shape 3"/>
          <p:cNvSpPr/>
          <p:nvPr/>
        </p:nvSpPr>
        <p:spPr>
          <a:xfrm>
            <a:off x="6306484" y="3925391"/>
            <a:ext cx="5230086" cy="855663"/>
          </a:xfrm>
          <a:prstGeom prst="roundRect">
            <a:avLst>
              <a:gd name="adj" fmla="val 293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861" y="4165798"/>
            <a:ext cx="209247" cy="1673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0486" y="4100612"/>
            <a:ext cx="4518706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ja-JP" alt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サンプルデータ生成機能で、導入直後からダッシュボードを確認できます</a:t>
            </a:r>
            <a:endParaRPr lang="ja-JP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5005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技術スタック</a:t>
            </a:r>
            <a:endParaRPr lang="ja-JP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5324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61965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Flutter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328543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iOS・Android・デスクトップ対応のクロスプラットフォーム開発</a:t>
            </a:r>
            <a:endParaRPr lang="ja-JP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15324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861965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Firestore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213915" y="328543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CloudSyncServiceによるリアルタイム同期とデータ永続化</a:t>
            </a:r>
            <a:endParaRPr lang="ja-JP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68291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977011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AIコーチエンジン</a:t>
            </a:r>
            <a:endParaRPr lang="ja-JP" sz="1950" dirty="0"/>
          </a:p>
        </p:txBody>
      </p:sp>
      <p:sp>
        <p:nvSpPr>
          <p:cNvPr id="11" name="Text 6"/>
          <p:cNvSpPr/>
          <p:nvPr/>
        </p:nvSpPr>
        <p:spPr>
          <a:xfrm>
            <a:off x="661475" y="540047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投球履歴を分析し、個別最適化された改善アドバイスを生成</a:t>
            </a:r>
            <a:endParaRPr lang="ja-JP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268291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977011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OCR スコア読取</a:t>
            </a:r>
            <a:endParaRPr lang="ja-JP" sz="1950" dirty="0"/>
          </a:p>
        </p:txBody>
      </p:sp>
      <p:sp>
        <p:nvSpPr>
          <p:cNvPr id="14" name="Text 8"/>
          <p:cNvSpPr/>
          <p:nvPr/>
        </p:nvSpPr>
        <p:spPr>
          <a:xfrm>
            <a:off x="6213915" y="540047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スコアシートの自動読み取りで入力を効率化</a:t>
            </a:r>
            <a:endParaRPr lang="ja-JP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5289"/>
            <a:ext cx="457893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次のステップへ</a:t>
            </a:r>
            <a:endParaRPr lang="ja-JP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402854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Bowling Master で、ボウリング場とプレイヤーの双方に</a:t>
            </a:r>
            <a:r>
              <a:rPr lang="ja-JP" altLang="en-US" sz="11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データドリブンな上達体験</a:t>
            </a:r>
            <a:r>
              <a:rPr lang="ja-JP" alt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を。</a:t>
            </a:r>
            <a:endParaRPr lang="ja-JP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756569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1994495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61475" y="2108200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プロトタイプ開発</a:t>
            </a:r>
            <a:endParaRPr lang="ja-JP" sz="1550" dirty="0"/>
          </a:p>
        </p:txBody>
      </p:sp>
      <p:sp>
        <p:nvSpPr>
          <p:cNvPr id="8" name="Text 5"/>
          <p:cNvSpPr/>
          <p:nvPr/>
        </p:nvSpPr>
        <p:spPr>
          <a:xfrm>
            <a:off x="661475" y="2428776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スコア入力・ヒートマップ表示の実装</a:t>
            </a:r>
            <a:endParaRPr lang="ja-JP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2880816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118743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61475" y="3232448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AIコーチ連携</a:t>
            </a:r>
            <a:endParaRPr lang="ja-JP" sz="1550" dirty="0"/>
          </a:p>
        </p:txBody>
      </p:sp>
      <p:sp>
        <p:nvSpPr>
          <p:cNvPr id="12" name="Text 9"/>
          <p:cNvSpPr/>
          <p:nvPr/>
        </p:nvSpPr>
        <p:spPr>
          <a:xfrm>
            <a:off x="661475" y="3553023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投球データ分析エンジンの組み込み</a:t>
            </a:r>
            <a:endParaRPr lang="ja-JP" sz="1150" dirty="0"/>
          </a:p>
        </p:txBody>
      </p:sp>
      <p:sp>
        <p:nvSpPr>
          <p:cNvPr id="13" name="Text 10"/>
          <p:cNvSpPr/>
          <p:nvPr/>
        </p:nvSpPr>
        <p:spPr>
          <a:xfrm>
            <a:off x="661475" y="4005064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242991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61475" y="4356695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フィールドテスト</a:t>
            </a:r>
            <a:endParaRPr lang="ja-JP" sz="1550" dirty="0"/>
          </a:p>
        </p:txBody>
      </p:sp>
      <p:sp>
        <p:nvSpPr>
          <p:cNvPr id="16" name="Text 13"/>
          <p:cNvSpPr/>
          <p:nvPr/>
        </p:nvSpPr>
        <p:spPr>
          <a:xfrm>
            <a:off x="661475" y="4677271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ボウリング場での実証・フィードバック収集</a:t>
            </a:r>
            <a:endParaRPr lang="ja-JP" sz="1150" dirty="0"/>
          </a:p>
        </p:txBody>
      </p:sp>
      <p:sp>
        <p:nvSpPr>
          <p:cNvPr id="17" name="Text 14"/>
          <p:cNvSpPr/>
          <p:nvPr/>
        </p:nvSpPr>
        <p:spPr>
          <a:xfrm>
            <a:off x="661475" y="5129312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61475" y="5367238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661475" y="5480943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ローンチ</a:t>
            </a:r>
            <a:endParaRPr lang="ja-JP" sz="1550" dirty="0"/>
          </a:p>
        </p:txBody>
      </p:sp>
      <p:sp>
        <p:nvSpPr>
          <p:cNvPr id="20" name="Text 17"/>
          <p:cNvSpPr/>
          <p:nvPr/>
        </p:nvSpPr>
        <p:spPr>
          <a:xfrm>
            <a:off x="661475" y="5801519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アプリストア公開・ボウリング場展開</a:t>
            </a:r>
            <a:endParaRPr lang="ja-JP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484</Words>
  <Application>Microsoft Office PowerPoint</Application>
  <PresentationFormat>ワイド画面</PresentationFormat>
  <Paragraphs>91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PT Serif Light</vt:lpstr>
      <vt:lpstr>DM Sans</vt:lpstr>
      <vt:lpstr>Arial</vt:lpstr>
      <vt:lpstr>PT Serif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佐藤 万宙(zeal23418190)</cp:lastModifiedBy>
  <cp:revision>2</cp:revision>
  <dcterms:created xsi:type="dcterms:W3CDTF">2026-06-24T03:33:37Z</dcterms:created>
  <dcterms:modified xsi:type="dcterms:W3CDTF">2026-06-24T03:34:56Z</dcterms:modified>
</cp:coreProperties>
</file>